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59" r:id="rId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162" y="2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9037" y="495680"/>
            <a:ext cx="9956165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5376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5376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5376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5376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53200"/>
            <a:ext cx="12192000" cy="304800"/>
          </a:xfrm>
          <a:custGeom>
            <a:avLst/>
            <a:gdLst/>
            <a:ahLst/>
            <a:cxnLst/>
            <a:rect l="l" t="t" r="r" b="b"/>
            <a:pathLst>
              <a:path w="12192000" h="304800">
                <a:moveTo>
                  <a:pt x="12192000" y="0"/>
                </a:moveTo>
                <a:lnTo>
                  <a:pt x="0" y="0"/>
                </a:lnTo>
                <a:lnTo>
                  <a:pt x="0" y="304800"/>
                </a:lnTo>
                <a:lnTo>
                  <a:pt x="12192000" y="3048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5376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57736" y="0"/>
            <a:ext cx="834262" cy="8342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6400" y="277495"/>
            <a:ext cx="418211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5376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15419" y="6554519"/>
            <a:ext cx="79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35" dirty="0">
                <a:latin typeface="Tahoma"/>
                <a:cs typeface="Tahoma"/>
              </a:rPr>
              <a:t>1</a:t>
            </a:r>
            <a:endParaRPr sz="12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2322995"/>
            <a:ext cx="2776346" cy="27763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1069037" y="495680"/>
            <a:ext cx="9956165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</a:pPr>
            <a:r>
              <a:rPr sz="4000" spc="-105" dirty="0">
                <a:solidFill>
                  <a:schemeClr val="tx2"/>
                </a:solidFill>
                <a:latin typeface="+mj-lt"/>
              </a:rPr>
              <a:t>Empo</a:t>
            </a:r>
            <a:r>
              <a:rPr lang="en-US" sz="4000" spc="-105" dirty="0">
                <a:solidFill>
                  <a:schemeClr val="tx2"/>
                </a:solidFill>
                <a:latin typeface="+mj-lt"/>
              </a:rPr>
              <a:t>wering Vietnamese Students with </a:t>
            </a:r>
            <a:br>
              <a:rPr lang="en-US" sz="4000" spc="-105" dirty="0">
                <a:solidFill>
                  <a:schemeClr val="tx2"/>
                </a:solidFill>
                <a:latin typeface="+mj-lt"/>
              </a:rPr>
            </a:br>
            <a:r>
              <a:rPr lang="en-US" sz="4000" spc="-105" dirty="0">
                <a:solidFill>
                  <a:schemeClr val="tx2"/>
                </a:solidFill>
                <a:latin typeface="+mj-lt"/>
              </a:rPr>
              <a:t>Global Career Opportunities</a:t>
            </a:r>
            <a:endParaRPr sz="4000" spc="-10" dirty="0">
              <a:solidFill>
                <a:schemeClr val="tx2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400" y="277495"/>
            <a:ext cx="66802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spc="-100" dirty="0">
                <a:solidFill>
                  <a:schemeClr val="tx2"/>
                </a:solidFill>
                <a:latin typeface="+mj-lt"/>
              </a:rPr>
              <a:t>8A</a:t>
            </a:r>
            <a:r>
              <a:rPr lang="en-US" sz="4000" b="0" spc="-13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lang="en-US" sz="4000" spc="-125" dirty="0">
                <a:solidFill>
                  <a:schemeClr val="tx2"/>
                </a:solidFill>
                <a:latin typeface="+mj-lt"/>
              </a:rPr>
              <a:t>x</a:t>
            </a:r>
            <a:r>
              <a:rPr lang="en-US" sz="4000" b="0" spc="-11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lang="en-US" sz="4000" spc="-65" dirty="0">
                <a:solidFill>
                  <a:schemeClr val="tx2"/>
                </a:solidFill>
                <a:latin typeface="+mj-lt"/>
              </a:rPr>
              <a:t>TAFE</a:t>
            </a:r>
            <a:r>
              <a:rPr lang="en-US" sz="4000" b="0" spc="-130" dirty="0">
                <a:solidFill>
                  <a:schemeClr val="tx2"/>
                </a:solidFill>
                <a:latin typeface="+mj-lt"/>
                <a:cs typeface="Times New Roman"/>
              </a:rPr>
              <a:t>/</a:t>
            </a:r>
            <a:r>
              <a:rPr lang="en-US" sz="4000" spc="-240" dirty="0">
                <a:solidFill>
                  <a:schemeClr val="tx2"/>
                </a:solidFill>
                <a:latin typeface="+mj-lt"/>
              </a:rPr>
              <a:t>RTO</a:t>
            </a:r>
            <a:r>
              <a:rPr lang="en-US" sz="4000" b="0" spc="-12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lang="en-US" sz="4000" spc="-45" dirty="0">
                <a:solidFill>
                  <a:schemeClr val="tx2"/>
                </a:solidFill>
                <a:latin typeface="+mj-lt"/>
                <a:cs typeface="Ubuntu Mono"/>
              </a:rPr>
              <a:t>–</a:t>
            </a:r>
            <a:r>
              <a:rPr lang="en-US" sz="4000" spc="-715" dirty="0">
                <a:solidFill>
                  <a:schemeClr val="tx2"/>
                </a:solidFill>
                <a:latin typeface="+mj-lt"/>
                <a:cs typeface="Ubuntu Mono"/>
              </a:rPr>
              <a:t> </a:t>
            </a:r>
            <a:r>
              <a:rPr lang="en-US" sz="4000" spc="-130" dirty="0">
                <a:solidFill>
                  <a:schemeClr val="tx2"/>
                </a:solidFill>
                <a:latin typeface="+mj-lt"/>
              </a:rPr>
              <a:t>Background</a:t>
            </a:r>
            <a:endParaRPr sz="4000" spc="-13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6400" y="1295400"/>
            <a:ext cx="11239500" cy="3888244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lang="en-US" sz="2400" dirty="0">
                <a:solidFill>
                  <a:schemeClr val="tx2"/>
                </a:solidFill>
                <a:latin typeface="+mj-lt"/>
                <a:cs typeface="Tahoma"/>
              </a:rPr>
              <a:t>The Aged Care industry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in</a:t>
            </a:r>
            <a:r>
              <a:rPr sz="2400" spc="-4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Australia</a:t>
            </a:r>
            <a:r>
              <a:rPr sz="2400" spc="-3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+mj-lt"/>
                <a:cs typeface="Tahoma"/>
              </a:rPr>
              <a:t>is</a:t>
            </a:r>
            <a:r>
              <a:rPr sz="2400" spc="-1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su</a:t>
            </a:r>
            <a:r>
              <a:rPr lang="en-US" sz="2400" dirty="0">
                <a:solidFill>
                  <a:schemeClr val="tx2"/>
                </a:solidFill>
                <a:latin typeface="+mj-lt"/>
                <a:cs typeface="Tahoma"/>
              </a:rPr>
              <a:t>ff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ering</a:t>
            </a:r>
            <a:r>
              <a:rPr sz="2400" spc="-2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a</a:t>
            </a:r>
            <a:r>
              <a:rPr sz="2400" spc="-1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55" dirty="0">
                <a:solidFill>
                  <a:schemeClr val="tx2"/>
                </a:solidFill>
                <a:latin typeface="+mj-lt"/>
                <a:cs typeface="Tahoma"/>
              </a:rPr>
              <a:t>skills</a:t>
            </a:r>
            <a:r>
              <a:rPr sz="2400" spc="-1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-10" dirty="0">
                <a:solidFill>
                  <a:schemeClr val="tx2"/>
                </a:solidFill>
                <a:latin typeface="+mj-lt"/>
                <a:cs typeface="Tahoma"/>
              </a:rPr>
              <a:t>shortage</a:t>
            </a:r>
            <a:endParaRPr sz="2400" dirty="0">
              <a:solidFill>
                <a:schemeClr val="tx2"/>
              </a:solidFill>
              <a:latin typeface="+mj-lt"/>
              <a:cs typeface="Tahoma"/>
            </a:endParaRPr>
          </a:p>
          <a:p>
            <a:pPr marL="299085" marR="164465" indent="-287020">
              <a:lnSpc>
                <a:spcPct val="15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lang="en-US" sz="2400" dirty="0">
                <a:solidFill>
                  <a:schemeClr val="tx2"/>
                </a:solidFill>
                <a:latin typeface="+mj-lt"/>
                <a:cs typeface="Tahoma"/>
              </a:rPr>
              <a:t>The Australian Nursing and Midwifery Federation</a:t>
            </a:r>
            <a:r>
              <a:rPr sz="2400" spc="-1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have</a:t>
            </a:r>
            <a:r>
              <a:rPr sz="2400" spc="-3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signed</a:t>
            </a:r>
            <a:r>
              <a:rPr sz="2400" spc="-4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-25" dirty="0">
                <a:solidFill>
                  <a:schemeClr val="tx2"/>
                </a:solidFill>
                <a:latin typeface="+mj-lt"/>
                <a:cs typeface="Tahoma"/>
              </a:rPr>
              <a:t>Industry</a:t>
            </a:r>
            <a:r>
              <a:rPr sz="2400" spc="-2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Labour</a:t>
            </a:r>
            <a:r>
              <a:rPr sz="2400" spc="-1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Agreements</a:t>
            </a:r>
            <a:r>
              <a:rPr sz="2400" spc="-4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-70" dirty="0">
                <a:solidFill>
                  <a:schemeClr val="tx2"/>
                </a:solidFill>
                <a:latin typeface="+mj-lt"/>
                <a:cs typeface="Tahoma"/>
              </a:rPr>
              <a:t>(ILA)</a:t>
            </a:r>
            <a:r>
              <a:rPr sz="2400" spc="-1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with</a:t>
            </a:r>
            <a:r>
              <a:rPr sz="2400" spc="-2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the</a:t>
            </a:r>
            <a:r>
              <a:rPr sz="2400" spc="-1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-10" dirty="0">
                <a:solidFill>
                  <a:schemeClr val="tx2"/>
                </a:solidFill>
                <a:latin typeface="+mj-lt"/>
                <a:cs typeface="Tahoma"/>
              </a:rPr>
              <a:t>Australian</a:t>
            </a:r>
            <a:r>
              <a:rPr sz="2400" spc="-1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-10" dirty="0">
                <a:solidFill>
                  <a:schemeClr val="tx2"/>
                </a:solidFill>
                <a:latin typeface="+mj-lt"/>
                <a:cs typeface="Tahoma"/>
              </a:rPr>
              <a:t>Covernment</a:t>
            </a:r>
            <a:endParaRPr sz="2400" dirty="0">
              <a:solidFill>
                <a:schemeClr val="tx2"/>
              </a:solidFill>
              <a:latin typeface="+mj-lt"/>
              <a:cs typeface="Tahoma"/>
            </a:endParaRPr>
          </a:p>
          <a:p>
            <a:pPr marL="299085" indent="-28702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spc="65" dirty="0">
                <a:solidFill>
                  <a:schemeClr val="tx2"/>
                </a:solidFill>
                <a:latin typeface="+mj-lt"/>
                <a:cs typeface="Tahoma"/>
              </a:rPr>
              <a:t>TAFEs</a:t>
            </a:r>
            <a:r>
              <a:rPr sz="2400" spc="-7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-20" dirty="0">
                <a:solidFill>
                  <a:schemeClr val="tx2"/>
                </a:solidFill>
                <a:latin typeface="+mj-lt"/>
                <a:cs typeface="Tahoma"/>
              </a:rPr>
              <a:t>and</a:t>
            </a:r>
            <a:r>
              <a:rPr sz="2400" spc="-8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-45" dirty="0">
                <a:solidFill>
                  <a:schemeClr val="tx2"/>
                </a:solidFill>
                <a:latin typeface="+mj-lt"/>
                <a:cs typeface="Tahoma"/>
              </a:rPr>
              <a:t>RTOs</a:t>
            </a:r>
            <a:r>
              <a:rPr sz="2400" spc="-6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have</a:t>
            </a:r>
            <a:r>
              <a:rPr sz="2400" spc="-5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been</a:t>
            </a:r>
            <a:r>
              <a:rPr sz="2400" spc="-7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approached</a:t>
            </a:r>
            <a:r>
              <a:rPr sz="2400" spc="-9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50" dirty="0">
                <a:solidFill>
                  <a:schemeClr val="tx2"/>
                </a:solidFill>
                <a:latin typeface="+mj-lt"/>
                <a:cs typeface="Tahoma"/>
              </a:rPr>
              <a:t>to</a:t>
            </a:r>
            <a:r>
              <a:rPr sz="2400" spc="-5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help</a:t>
            </a:r>
            <a:r>
              <a:rPr sz="2400" spc="-5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lang="en-US" sz="2400" spc="-55" dirty="0">
                <a:solidFill>
                  <a:schemeClr val="tx2"/>
                </a:solidFill>
                <a:latin typeface="+mj-lt"/>
                <a:cs typeface="Tahoma"/>
              </a:rPr>
              <a:t>f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ill</a:t>
            </a:r>
            <a:r>
              <a:rPr sz="2400" spc="-5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the</a:t>
            </a:r>
            <a:r>
              <a:rPr sz="2400" spc="-7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55" dirty="0">
                <a:solidFill>
                  <a:schemeClr val="tx2"/>
                </a:solidFill>
                <a:latin typeface="+mj-lt"/>
                <a:cs typeface="Tahoma"/>
              </a:rPr>
              <a:t>skills</a:t>
            </a:r>
            <a:r>
              <a:rPr sz="2400" spc="-6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-10" dirty="0">
                <a:solidFill>
                  <a:schemeClr val="tx2"/>
                </a:solidFill>
                <a:latin typeface="+mj-lt"/>
                <a:cs typeface="Tahoma"/>
              </a:rPr>
              <a:t>shortage</a:t>
            </a:r>
            <a:r>
              <a:rPr lang="en-US" sz="2400" spc="-10" dirty="0">
                <a:solidFill>
                  <a:schemeClr val="tx2"/>
                </a:solidFill>
                <a:latin typeface="+mj-lt"/>
                <a:cs typeface="Tahoma"/>
              </a:rPr>
              <a:t> in Aged Care</a:t>
            </a:r>
            <a:endParaRPr sz="2400" dirty="0">
              <a:solidFill>
                <a:schemeClr val="tx2"/>
              </a:solidFill>
              <a:latin typeface="+mj-lt"/>
              <a:cs typeface="Tahoma"/>
            </a:endParaRPr>
          </a:p>
          <a:p>
            <a:pPr marL="299085" marR="446405" indent="-287020">
              <a:lnSpc>
                <a:spcPts val="4320"/>
              </a:lnSpc>
              <a:spcBef>
                <a:spcPts val="38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spc="65" dirty="0">
                <a:solidFill>
                  <a:schemeClr val="tx2"/>
                </a:solidFill>
                <a:latin typeface="+mj-lt"/>
                <a:cs typeface="Tahoma"/>
              </a:rPr>
              <a:t>TAFEs</a:t>
            </a:r>
            <a:r>
              <a:rPr sz="2400" spc="-7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-20" dirty="0">
                <a:solidFill>
                  <a:schemeClr val="tx2"/>
                </a:solidFill>
                <a:latin typeface="+mj-lt"/>
                <a:cs typeface="Tahoma"/>
              </a:rPr>
              <a:t>and</a:t>
            </a:r>
            <a:r>
              <a:rPr sz="2400" spc="-8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-45" dirty="0">
                <a:solidFill>
                  <a:schemeClr val="tx2"/>
                </a:solidFill>
                <a:latin typeface="+mj-lt"/>
                <a:cs typeface="Tahoma"/>
              </a:rPr>
              <a:t>RTOs</a:t>
            </a:r>
            <a:r>
              <a:rPr sz="2400" spc="-7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are</a:t>
            </a:r>
            <a:r>
              <a:rPr sz="2400" spc="-6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approaching</a:t>
            </a:r>
            <a:r>
              <a:rPr sz="2400" spc="-8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educational</a:t>
            </a:r>
            <a:r>
              <a:rPr sz="2400" spc="-6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50" dirty="0">
                <a:solidFill>
                  <a:schemeClr val="tx2"/>
                </a:solidFill>
                <a:latin typeface="+mj-lt"/>
                <a:cs typeface="Tahoma"/>
              </a:rPr>
              <a:t>institutions</a:t>
            </a:r>
            <a:r>
              <a:rPr sz="2400" spc="-6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in</a:t>
            </a:r>
            <a:r>
              <a:rPr sz="2400" spc="-8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lang="en-GB" sz="2400" dirty="0">
                <a:solidFill>
                  <a:schemeClr val="tx2"/>
                </a:solidFill>
                <a:latin typeface="+mj-lt"/>
                <a:cs typeface="Tahoma"/>
              </a:rPr>
              <a:t>Southeast</a:t>
            </a:r>
            <a:r>
              <a:rPr sz="2400" spc="-5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70" dirty="0">
                <a:solidFill>
                  <a:schemeClr val="tx2"/>
                </a:solidFill>
                <a:latin typeface="+mj-lt"/>
                <a:cs typeface="Tahoma"/>
              </a:rPr>
              <a:t>Asia</a:t>
            </a:r>
            <a:r>
              <a:rPr sz="2400" spc="-8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25" dirty="0">
                <a:solidFill>
                  <a:schemeClr val="tx2"/>
                </a:solidFill>
                <a:latin typeface="+mj-lt"/>
                <a:cs typeface="Tahoma"/>
              </a:rPr>
              <a:t>to</a:t>
            </a:r>
            <a:r>
              <a:rPr sz="2400" spc="2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educate,</a:t>
            </a:r>
            <a:r>
              <a:rPr sz="2400" spc="1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develop</a:t>
            </a:r>
            <a:r>
              <a:rPr sz="2400" spc="-1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-20" dirty="0">
                <a:solidFill>
                  <a:schemeClr val="tx2"/>
                </a:solidFill>
                <a:latin typeface="+mj-lt"/>
                <a:cs typeface="Tahoma"/>
              </a:rPr>
              <a:t>and</a:t>
            </a:r>
            <a:r>
              <a:rPr sz="2400" spc="-1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supply</a:t>
            </a:r>
            <a:r>
              <a:rPr sz="2400" spc="-2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well</a:t>
            </a:r>
            <a:r>
              <a:rPr sz="2400" spc="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trained</a:t>
            </a:r>
            <a:r>
              <a:rPr sz="2400" spc="-1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lang="en-US" sz="2400" spc="-15" dirty="0">
                <a:solidFill>
                  <a:schemeClr val="tx2"/>
                </a:solidFill>
                <a:latin typeface="+mj-lt"/>
                <a:cs typeface="Tahoma"/>
              </a:rPr>
              <a:t>PCAs</a:t>
            </a:r>
            <a:r>
              <a:rPr sz="2400" spc="1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50" dirty="0">
                <a:solidFill>
                  <a:schemeClr val="tx2"/>
                </a:solidFill>
                <a:latin typeface="+mj-lt"/>
                <a:cs typeface="Tahoma"/>
              </a:rPr>
              <a:t>to</a:t>
            </a:r>
            <a:r>
              <a:rPr sz="2400" spc="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-10" dirty="0">
                <a:solidFill>
                  <a:schemeClr val="tx2"/>
                </a:solidFill>
                <a:latin typeface="+mj-lt"/>
                <a:cs typeface="Tahoma"/>
              </a:rPr>
              <a:t>Australia</a:t>
            </a:r>
            <a:endParaRPr sz="2400" dirty="0">
              <a:solidFill>
                <a:schemeClr val="tx2"/>
              </a:solidFill>
              <a:latin typeface="+mj-lt"/>
              <a:cs typeface="Tahoma"/>
            </a:endParaRPr>
          </a:p>
          <a:p>
            <a:pPr marL="299085" indent="-287020">
              <a:lnSpc>
                <a:spcPct val="100000"/>
              </a:lnSpc>
              <a:spcBef>
                <a:spcPts val="106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spc="65" dirty="0">
                <a:solidFill>
                  <a:schemeClr val="tx2"/>
                </a:solidFill>
                <a:latin typeface="+mj-lt"/>
                <a:cs typeface="Tahoma"/>
              </a:rPr>
              <a:t>TAFEs</a:t>
            </a:r>
            <a:r>
              <a:rPr sz="2400" spc="-3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-20" dirty="0">
                <a:solidFill>
                  <a:schemeClr val="tx2"/>
                </a:solidFill>
                <a:latin typeface="+mj-lt"/>
                <a:cs typeface="Tahoma"/>
              </a:rPr>
              <a:t>and</a:t>
            </a:r>
            <a:r>
              <a:rPr sz="2400" spc="-5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-45" dirty="0">
                <a:solidFill>
                  <a:schemeClr val="tx2"/>
                </a:solidFill>
                <a:latin typeface="+mj-lt"/>
                <a:cs typeface="Tahoma"/>
              </a:rPr>
              <a:t>RTOs</a:t>
            </a:r>
            <a:r>
              <a:rPr sz="2400" spc="-3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are</a:t>
            </a:r>
            <a:r>
              <a:rPr sz="2400" spc="-1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partnering</a:t>
            </a:r>
            <a:r>
              <a:rPr sz="2400" spc="-5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with</a:t>
            </a:r>
            <a:r>
              <a:rPr sz="2400" spc="-3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8A</a:t>
            </a:r>
            <a:r>
              <a:rPr sz="2400" spc="-4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locally</a:t>
            </a:r>
            <a:r>
              <a:rPr sz="2400" spc="-2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as</a:t>
            </a:r>
            <a:r>
              <a:rPr sz="2400" spc="-1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the</a:t>
            </a:r>
            <a:r>
              <a:rPr sz="2400" spc="-3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pre</a:t>
            </a:r>
            <a:r>
              <a:rPr lang="en-US" sz="2400" dirty="0">
                <a:solidFill>
                  <a:schemeClr val="tx2"/>
                </a:solidFill>
                <a:latin typeface="+mj-lt"/>
                <a:cs typeface="Tahoma"/>
              </a:rPr>
              <a:t>f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erred</a:t>
            </a:r>
            <a:r>
              <a:rPr sz="2400" spc="-2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partner</a:t>
            </a:r>
            <a:r>
              <a:rPr sz="2400" spc="-3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chemeClr val="tx2"/>
                </a:solidFill>
                <a:latin typeface="+mj-lt"/>
                <a:cs typeface="Tahoma"/>
              </a:rPr>
              <a:t>in</a:t>
            </a:r>
            <a:r>
              <a:rPr sz="2400" spc="-4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2400" spc="-10" dirty="0">
                <a:solidFill>
                  <a:schemeClr val="tx2"/>
                </a:solidFill>
                <a:latin typeface="+mj-lt"/>
                <a:cs typeface="Tahoma"/>
              </a:rPr>
              <a:t>Vietnam</a:t>
            </a:r>
            <a:endParaRPr sz="2400" dirty="0">
              <a:solidFill>
                <a:schemeClr val="tx2"/>
              </a:solidFill>
              <a:latin typeface="+mj-lt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E2CDB-4334-4A35-2610-B12FA4ED5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94E7DD-3CA8-74DB-B5FD-E01E5BC791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6400" y="277495"/>
            <a:ext cx="66802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spc="-100" dirty="0">
                <a:latin typeface="+mj-lt"/>
              </a:rPr>
              <a:t>Aged Care Worker Qualifications</a:t>
            </a:r>
            <a:endParaRPr sz="4000" spc="-130" dirty="0">
              <a:latin typeface="+mj-lt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0311B87-EF37-7B10-972F-BFA0A2EA5F8A}"/>
              </a:ext>
            </a:extLst>
          </p:cNvPr>
          <p:cNvSpPr txBox="1"/>
          <p:nvPr/>
        </p:nvSpPr>
        <p:spPr>
          <a:xfrm>
            <a:off x="406400" y="921112"/>
            <a:ext cx="11239500" cy="5168081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540"/>
              </a:spcBef>
              <a:tabLst>
                <a:tab pos="299085" algn="l"/>
                <a:tab pos="299720" algn="l"/>
              </a:tabLst>
            </a:pPr>
            <a:r>
              <a:rPr lang="en-US" sz="2400" dirty="0">
                <a:solidFill>
                  <a:schemeClr val="tx2"/>
                </a:solidFill>
                <a:latin typeface="+mj-lt"/>
                <a:cs typeface="Tahoma"/>
              </a:rPr>
              <a:t>By current regulations:</a:t>
            </a:r>
          </a:p>
          <a:p>
            <a:pPr marL="299085" indent="-287020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lang="en-US" sz="2400" dirty="0">
                <a:solidFill>
                  <a:schemeClr val="tx2"/>
                </a:solidFill>
                <a:latin typeface="+mj-lt"/>
                <a:cs typeface="Tahoma"/>
              </a:rPr>
              <a:t>To meet occupation requirements for a Skills in Demand visa (subclass 482) and Employer Nomination Scheme visa (subclass 186), overseas workers must have one of the following:</a:t>
            </a:r>
          </a:p>
          <a:p>
            <a:pPr marL="299085" indent="-287020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lang="en-US" sz="2400" dirty="0">
                <a:solidFill>
                  <a:schemeClr val="tx2"/>
                </a:solidFill>
                <a:latin typeface="+mj-lt"/>
                <a:cs typeface="Tahoma"/>
              </a:rPr>
              <a:t>a relevant Australian Qualifications Framework (AQF) Certificate III or equivalent, or a higher qualification</a:t>
            </a:r>
          </a:p>
          <a:p>
            <a:pPr marL="299085" lvl="2" indent="-287020">
              <a:spcBef>
                <a:spcPts val="154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+mj-lt"/>
                <a:cs typeface="Tahoma"/>
              </a:rPr>
              <a:t>For example. a </a:t>
            </a:r>
            <a:r>
              <a:rPr lang="en-US" sz="1600" b="1" i="1" dirty="0">
                <a:solidFill>
                  <a:srgbClr val="FF0000"/>
                </a:solidFill>
                <a:latin typeface="+mj-lt"/>
                <a:cs typeface="Tahoma"/>
              </a:rPr>
              <a:t>Certificate III in Individual Support (Ageing and Disability)</a:t>
            </a:r>
          </a:p>
          <a:p>
            <a:pPr marL="299085" lvl="2" indent="-287020">
              <a:spcBef>
                <a:spcPts val="154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+mj-lt"/>
                <a:cs typeface="Tahoma"/>
              </a:rPr>
              <a:t>TAFE/We will have to negotiate with the Vietnamese university or college how to integrate their study modules and the 120 hours practicum into the local aged care/nursing program. </a:t>
            </a:r>
          </a:p>
          <a:p>
            <a:pPr marL="299085" indent="-287020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lang="en-US" sz="2400" dirty="0">
                <a:solidFill>
                  <a:schemeClr val="tx2"/>
                </a:solidFill>
                <a:latin typeface="+mj-lt"/>
                <a:cs typeface="Tahoma"/>
              </a:rPr>
              <a:t>12 months of relevant full time work experience, or equivalent part time experience</a:t>
            </a:r>
          </a:p>
          <a:p>
            <a:pPr marL="299085" indent="-287020">
              <a:spcBef>
                <a:spcPts val="154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+mj-lt"/>
                <a:cs typeface="Tahoma"/>
              </a:rPr>
              <a:t>TAFE will have to sign off on what is acceptable as 12 months work experience in Vietnam which will be a combination of recognized prior/additional learning and current work experience. </a:t>
            </a:r>
            <a:endParaRPr lang="en-US" sz="1600" b="1" dirty="0">
              <a:solidFill>
                <a:schemeClr val="tx2"/>
              </a:solidFill>
              <a:latin typeface="+mj-lt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991187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400" y="277495"/>
            <a:ext cx="418211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40" dirty="0">
                <a:latin typeface="+mj-lt"/>
              </a:rPr>
              <a:t>The</a:t>
            </a:r>
            <a:r>
              <a:rPr sz="4000" spc="-100" dirty="0">
                <a:latin typeface="+mj-lt"/>
                <a:cs typeface="Times New Roman"/>
              </a:rPr>
              <a:t> </a:t>
            </a:r>
            <a:r>
              <a:rPr sz="4000" spc="-140" dirty="0">
                <a:latin typeface="+mj-lt"/>
              </a:rPr>
              <a:t>Student</a:t>
            </a:r>
            <a:r>
              <a:rPr sz="4000" spc="-110" dirty="0">
                <a:latin typeface="+mj-lt"/>
                <a:cs typeface="Times New Roman"/>
              </a:rPr>
              <a:t> </a:t>
            </a:r>
            <a:r>
              <a:rPr lang="en-US" sz="4000" spc="-150" dirty="0">
                <a:latin typeface="+mj-lt"/>
                <a:cs typeface="Times New Roman"/>
              </a:rPr>
              <a:t>J</a:t>
            </a:r>
            <a:r>
              <a:rPr sz="4000" spc="-150" dirty="0">
                <a:latin typeface="+mj-lt"/>
              </a:rPr>
              <a:t>ourney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418" y="2246502"/>
            <a:ext cx="11432121" cy="16043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644885" y="2919222"/>
            <a:ext cx="7340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AF1BC"/>
                </a:solidFill>
                <a:latin typeface="Tahoma"/>
                <a:cs typeface="Tahoma"/>
              </a:rPr>
              <a:t>Australia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7" y="2919222"/>
            <a:ext cx="4013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3879DF"/>
                </a:solidFill>
                <a:latin typeface="Tahoma"/>
                <a:cs typeface="Tahoma"/>
              </a:rPr>
              <a:t>VISA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14747" y="2727198"/>
            <a:ext cx="1042669" cy="62357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1270" algn="ctr">
              <a:lnSpc>
                <a:spcPts val="1510"/>
              </a:lnSpc>
              <a:spcBef>
                <a:spcPts val="295"/>
              </a:spcBef>
            </a:pPr>
            <a:r>
              <a:rPr lang="en-US" sz="1400" spc="-25" dirty="0">
                <a:solidFill>
                  <a:srgbClr val="3879DF"/>
                </a:solidFill>
                <a:latin typeface="Tahoma"/>
                <a:cs typeface="Tahoma"/>
              </a:rPr>
              <a:t>J</a:t>
            </a:r>
            <a:r>
              <a:rPr sz="1400" spc="-25" dirty="0">
                <a:solidFill>
                  <a:srgbClr val="3879DF"/>
                </a:solidFill>
                <a:latin typeface="Tahoma"/>
                <a:cs typeface="Tahoma"/>
              </a:rPr>
              <a:t>ob</a:t>
            </a:r>
            <a:r>
              <a:rPr sz="1400" spc="-25" dirty="0">
                <a:solidFill>
                  <a:srgbClr val="3879D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3879DF"/>
                </a:solidFill>
                <a:latin typeface="Tahoma"/>
                <a:cs typeface="Tahoma"/>
              </a:rPr>
              <a:t>Placement</a:t>
            </a:r>
            <a:r>
              <a:rPr sz="1400" spc="120" dirty="0">
                <a:solidFill>
                  <a:srgbClr val="3879D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3879DF"/>
                </a:solidFill>
                <a:latin typeface="Tahoma"/>
                <a:cs typeface="Tahoma"/>
              </a:rPr>
              <a:t>in</a:t>
            </a:r>
            <a:r>
              <a:rPr sz="1400" spc="-25" dirty="0">
                <a:solidFill>
                  <a:srgbClr val="3879D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3879DF"/>
                </a:solidFill>
                <a:latin typeface="Tahoma"/>
                <a:cs typeface="Tahoma"/>
              </a:rPr>
              <a:t>Australia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68962" y="2919222"/>
            <a:ext cx="854075" cy="21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595"/>
              </a:lnSpc>
              <a:spcBef>
                <a:spcPts val="105"/>
              </a:spcBef>
            </a:pPr>
            <a:r>
              <a:rPr sz="1400" dirty="0">
                <a:solidFill>
                  <a:srgbClr val="3879DF"/>
                </a:solidFill>
                <a:latin typeface="Tahoma"/>
                <a:cs typeface="Tahoma"/>
              </a:rPr>
              <a:t>IELTS</a:t>
            </a:r>
            <a:r>
              <a:rPr sz="1400" spc="-70" dirty="0">
                <a:solidFill>
                  <a:srgbClr val="3879DF"/>
                </a:solidFill>
                <a:latin typeface="Times New Roman"/>
                <a:cs typeface="Times New Roman"/>
              </a:rPr>
              <a:t> </a:t>
            </a:r>
            <a:r>
              <a:rPr sz="1400" spc="-80" dirty="0">
                <a:solidFill>
                  <a:srgbClr val="3879DF"/>
                </a:solidFill>
                <a:latin typeface="Tahoma"/>
                <a:cs typeface="Tahoma"/>
              </a:rPr>
              <a:t>5.</a:t>
            </a:r>
            <a:r>
              <a:rPr lang="en-US" sz="1400" spc="-80" dirty="0">
                <a:solidFill>
                  <a:srgbClr val="3879DF"/>
                </a:solidFill>
                <a:latin typeface="Tahoma"/>
                <a:cs typeface="Tahoma"/>
              </a:rPr>
              <a:t>5+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6083" y="2631186"/>
            <a:ext cx="906780" cy="8159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-1270" algn="ctr">
              <a:lnSpc>
                <a:spcPts val="1510"/>
              </a:lnSpc>
              <a:spcBef>
                <a:spcPts val="295"/>
              </a:spcBef>
            </a:pPr>
            <a:r>
              <a:rPr sz="1400" spc="-10" dirty="0">
                <a:solidFill>
                  <a:srgbClr val="3879DF"/>
                </a:solidFill>
                <a:latin typeface="Tahoma"/>
                <a:cs typeface="Tahoma"/>
              </a:rPr>
              <a:t>Industry</a:t>
            </a:r>
            <a:r>
              <a:rPr sz="1400" spc="-10" dirty="0">
                <a:solidFill>
                  <a:srgbClr val="3879D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3879DF"/>
                </a:solidFill>
                <a:latin typeface="Tahoma"/>
                <a:cs typeface="Tahoma"/>
              </a:rPr>
              <a:t>work</a:t>
            </a:r>
            <a:r>
              <a:rPr sz="1400" spc="-20" dirty="0">
                <a:solidFill>
                  <a:srgbClr val="3879D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3879DF"/>
                </a:solidFill>
                <a:latin typeface="Tahoma"/>
                <a:cs typeface="Tahoma"/>
              </a:rPr>
              <a:t>experience</a:t>
            </a:r>
            <a:r>
              <a:rPr sz="1400" spc="-10" dirty="0">
                <a:solidFill>
                  <a:srgbClr val="3879D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3879DF"/>
                </a:solidFill>
                <a:latin typeface="Tahoma"/>
                <a:cs typeface="Tahoma"/>
              </a:rPr>
              <a:t>in</a:t>
            </a:r>
            <a:r>
              <a:rPr sz="1400" spc="-55" dirty="0">
                <a:solidFill>
                  <a:srgbClr val="3879D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3879DF"/>
                </a:solidFill>
                <a:latin typeface="Tahoma"/>
                <a:cs typeface="Tahoma"/>
              </a:rPr>
              <a:t>Vietnam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74519" y="2919222"/>
            <a:ext cx="892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spc="-10" dirty="0">
                <a:solidFill>
                  <a:srgbClr val="3879DF"/>
                </a:solidFill>
                <a:latin typeface="Tahoma"/>
                <a:cs typeface="Tahoma"/>
              </a:rPr>
              <a:t>G</a:t>
            </a:r>
            <a:r>
              <a:rPr sz="1400" spc="-10" dirty="0">
                <a:solidFill>
                  <a:srgbClr val="3879DF"/>
                </a:solidFill>
                <a:latin typeface="Tahoma"/>
                <a:cs typeface="Tahoma"/>
              </a:rPr>
              <a:t>raduation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1694" y="2631186"/>
            <a:ext cx="981710" cy="807272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ctr">
              <a:lnSpc>
                <a:spcPts val="1510"/>
              </a:lnSpc>
              <a:spcBef>
                <a:spcPts val="295"/>
              </a:spcBef>
            </a:pPr>
            <a:r>
              <a:rPr lang="en-US" sz="1400" dirty="0">
                <a:solidFill>
                  <a:srgbClr val="3879DF"/>
                </a:solidFill>
                <a:latin typeface="Tahoma"/>
                <a:cs typeface="Tahoma"/>
              </a:rPr>
              <a:t>Current College Students (Can Tho)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893" y="1609123"/>
            <a:ext cx="21234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081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TAFE</a:t>
            </a:r>
            <a:r>
              <a:rPr sz="1200" spc="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spc="70" dirty="0">
                <a:solidFill>
                  <a:srgbClr val="25376D"/>
                </a:solidFill>
                <a:latin typeface="Tahoma"/>
                <a:cs typeface="Tahoma"/>
              </a:rPr>
              <a:t>/</a:t>
            </a:r>
            <a:r>
              <a:rPr sz="1200" spc="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spc="-55" dirty="0">
                <a:solidFill>
                  <a:srgbClr val="25376D"/>
                </a:solidFill>
                <a:latin typeface="Tahoma"/>
                <a:cs typeface="Tahoma"/>
              </a:rPr>
              <a:t>RTO</a:t>
            </a:r>
            <a:r>
              <a:rPr lang="en-US" sz="1200" spc="-55" dirty="0">
                <a:solidFill>
                  <a:srgbClr val="25376D"/>
                </a:solidFill>
                <a:latin typeface="Tahoma"/>
                <a:cs typeface="Tahoma"/>
              </a:rPr>
              <a:t> diploma</a:t>
            </a:r>
            <a:r>
              <a:rPr lang="en-US" sz="1200" spc="1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integration</a:t>
            </a:r>
            <a:r>
              <a:rPr sz="1200" spc="-30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25376D"/>
                </a:solidFill>
                <a:latin typeface="Tahoma"/>
                <a:cs typeface="Tahoma"/>
              </a:rPr>
              <a:t>into</a:t>
            </a:r>
            <a:r>
              <a:rPr sz="1200" spc="-20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current</a:t>
            </a:r>
            <a:r>
              <a:rPr sz="1200" spc="5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lang="en-US" sz="1200" dirty="0">
                <a:solidFill>
                  <a:srgbClr val="25376D"/>
                </a:solidFill>
                <a:latin typeface="Tahoma"/>
                <a:cs typeface="Tahoma"/>
              </a:rPr>
              <a:t>nursing </a:t>
            </a:r>
            <a:r>
              <a:rPr sz="1200" spc="-10" dirty="0">
                <a:solidFill>
                  <a:srgbClr val="25376D"/>
                </a:solidFill>
                <a:latin typeface="Tahoma"/>
                <a:cs typeface="Tahoma"/>
              </a:rPr>
              <a:t>program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57197" y="3906469"/>
            <a:ext cx="18751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Students</a:t>
            </a:r>
            <a:r>
              <a:rPr sz="1200" spc="2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can</a:t>
            </a:r>
            <a:r>
              <a:rPr sz="1200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graduate</a:t>
            </a:r>
            <a:r>
              <a:rPr sz="1200" spc="1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25376D"/>
                </a:solidFill>
                <a:latin typeface="Tahoma"/>
                <a:cs typeface="Tahoma"/>
              </a:rPr>
              <a:t>with</a:t>
            </a:r>
            <a:endParaRPr sz="12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solidFill>
                  <a:srgbClr val="25376D"/>
                </a:solidFill>
                <a:latin typeface="Tahoma"/>
                <a:cs typeface="Tahoma"/>
              </a:rPr>
              <a:t>dual</a:t>
            </a:r>
            <a:r>
              <a:rPr sz="1200" spc="-4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5376D"/>
                </a:solidFill>
                <a:latin typeface="Tahoma"/>
                <a:cs typeface="Tahoma"/>
              </a:rPr>
              <a:t>qualitications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23712" y="1614670"/>
            <a:ext cx="2190115" cy="59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0" marR="5080" indent="-337185" algn="ctr">
              <a:lnSpc>
                <a:spcPct val="100000"/>
              </a:lnSpc>
              <a:spcBef>
                <a:spcPts val="100"/>
              </a:spcBef>
            </a:pPr>
            <a:r>
              <a:rPr lang="en-US" sz="1200" spc="-10" dirty="0">
                <a:solidFill>
                  <a:srgbClr val="25376D"/>
                </a:solidFill>
                <a:latin typeface="Tahoma"/>
                <a:cs typeface="Tahoma"/>
              </a:rPr>
              <a:t>With nursing it is 120 hours</a:t>
            </a:r>
          </a:p>
          <a:p>
            <a:pPr marL="349250" marR="5080" indent="-337185" algn="ctr">
              <a:lnSpc>
                <a:spcPct val="100000"/>
              </a:lnSpc>
              <a:spcBef>
                <a:spcPts val="100"/>
              </a:spcBef>
            </a:pPr>
            <a:r>
              <a:rPr lang="en-US" sz="1200" spc="-10" dirty="0">
                <a:solidFill>
                  <a:srgbClr val="25376D"/>
                </a:solidFill>
                <a:latin typeface="Tahoma"/>
                <a:cs typeface="Tahoma"/>
              </a:rPr>
              <a:t>practicum as approved by </a:t>
            </a:r>
          </a:p>
          <a:p>
            <a:pPr marL="349250" marR="5080" indent="-337185" algn="ctr">
              <a:lnSpc>
                <a:spcPct val="100000"/>
              </a:lnSpc>
              <a:spcBef>
                <a:spcPts val="100"/>
              </a:spcBef>
            </a:pPr>
            <a:r>
              <a:rPr lang="en-US" sz="1200" spc="-10" dirty="0">
                <a:solidFill>
                  <a:srgbClr val="25376D"/>
                </a:solidFill>
                <a:latin typeface="Tahoma"/>
                <a:cs typeface="Tahoma"/>
              </a:rPr>
              <a:t>TAFE / RTO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87447" y="4565279"/>
            <a:ext cx="107099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0000"/>
                </a:solidFill>
                <a:latin typeface="Tahoma"/>
                <a:cs typeface="Tahoma"/>
              </a:rPr>
              <a:t>Concurrently</a:t>
            </a:r>
            <a:endParaRPr sz="1200" b="1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90738" y="3906469"/>
            <a:ext cx="24282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Skills</a:t>
            </a:r>
            <a:r>
              <a:rPr sz="1200" spc="-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in</a:t>
            </a:r>
            <a:r>
              <a:rPr sz="1200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25376D"/>
                </a:solidFill>
                <a:latin typeface="Tahoma"/>
                <a:cs typeface="Tahoma"/>
              </a:rPr>
              <a:t>Demand</a:t>
            </a:r>
            <a:r>
              <a:rPr sz="1200" spc="2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Visa</a:t>
            </a:r>
            <a:r>
              <a:rPr sz="1200" spc="1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(subclass</a:t>
            </a:r>
            <a:r>
              <a:rPr sz="1200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25376D"/>
                </a:solidFill>
                <a:latin typeface="Tahoma"/>
                <a:cs typeface="Tahoma"/>
              </a:rPr>
              <a:t>482)</a:t>
            </a:r>
            <a:endParaRPr sz="1200" dirty="0">
              <a:latin typeface="Tahoma"/>
              <a:cs typeface="Tahoma"/>
            </a:endParaRPr>
          </a:p>
          <a:p>
            <a:pPr marL="204470" marR="198755" indent="571500">
              <a:lnSpc>
                <a:spcPct val="100000"/>
              </a:lnSpc>
              <a:spcBef>
                <a:spcPts val="5"/>
              </a:spcBef>
            </a:pPr>
            <a:r>
              <a:rPr sz="1200" spc="-105" dirty="0">
                <a:solidFill>
                  <a:srgbClr val="25376D"/>
                </a:solidFill>
                <a:latin typeface="Tahoma"/>
                <a:cs typeface="Tahoma"/>
              </a:rPr>
              <a:t>–</a:t>
            </a:r>
            <a:r>
              <a:rPr sz="1200" spc="-110" dirty="0">
                <a:solidFill>
                  <a:srgbClr val="25376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2</a:t>
            </a:r>
            <a:r>
              <a:rPr sz="1200" spc="-3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to</a:t>
            </a:r>
            <a:r>
              <a:rPr sz="1200" spc="-4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4</a:t>
            </a:r>
            <a:r>
              <a:rPr sz="1200" spc="-50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5376D"/>
                </a:solidFill>
                <a:latin typeface="Tahoma"/>
                <a:cs typeface="Tahoma"/>
              </a:rPr>
              <a:t>years</a:t>
            </a:r>
            <a:r>
              <a:rPr sz="1200" spc="-10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Employer</a:t>
            </a:r>
            <a:r>
              <a:rPr sz="1200" spc="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Nomination</a:t>
            </a:r>
            <a:r>
              <a:rPr sz="1200" spc="-50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5376D"/>
                </a:solidFill>
                <a:latin typeface="Tahoma"/>
                <a:cs typeface="Tahoma"/>
              </a:rPr>
              <a:t>Scheme</a:t>
            </a:r>
            <a:endParaRPr sz="1200" dirty="0">
              <a:latin typeface="Tahoma"/>
              <a:cs typeface="Tahoma"/>
            </a:endParaRPr>
          </a:p>
          <a:p>
            <a:pPr marL="309245">
              <a:lnSpc>
                <a:spcPct val="100000"/>
              </a:lnSpc>
            </a:pP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(Subclass</a:t>
            </a:r>
            <a:r>
              <a:rPr sz="1200" spc="-10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spc="-95" dirty="0">
                <a:solidFill>
                  <a:srgbClr val="25376D"/>
                </a:solidFill>
                <a:latin typeface="Tahoma"/>
                <a:cs typeface="Tahoma"/>
              </a:rPr>
              <a:t>186)</a:t>
            </a:r>
            <a:r>
              <a:rPr sz="1200" spc="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-</a:t>
            </a:r>
            <a:r>
              <a:rPr sz="1200" spc="-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5376D"/>
                </a:solidFill>
                <a:latin typeface="Tahoma"/>
                <a:cs typeface="Tahoma"/>
              </a:rPr>
              <a:t>Permanent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01206" y="1551813"/>
            <a:ext cx="22650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8A</a:t>
            </a:r>
            <a:r>
              <a:rPr sz="1200" spc="-30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spc="-290" dirty="0">
                <a:solidFill>
                  <a:srgbClr val="25376D"/>
                </a:solidFill>
                <a:latin typeface="Tahoma"/>
                <a:cs typeface="Tahoma"/>
              </a:rPr>
              <a:t>+</a:t>
            </a:r>
            <a:r>
              <a:rPr sz="1200" spc="-1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TAFE</a:t>
            </a:r>
            <a:r>
              <a:rPr sz="1200" spc="-10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spc="-290" dirty="0">
                <a:solidFill>
                  <a:srgbClr val="25376D"/>
                </a:solidFill>
                <a:latin typeface="Tahoma"/>
                <a:cs typeface="Tahoma"/>
              </a:rPr>
              <a:t>+</a:t>
            </a:r>
            <a:r>
              <a:rPr sz="1200" spc="-3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25376D"/>
                </a:solidFill>
                <a:latin typeface="Tahoma"/>
                <a:cs typeface="Tahoma"/>
              </a:rPr>
              <a:t>RTO</a:t>
            </a:r>
            <a:endParaRPr sz="12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Complete</a:t>
            </a:r>
            <a:r>
              <a:rPr sz="1200" spc="40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Placement</a:t>
            </a:r>
            <a:r>
              <a:rPr sz="1200" spc="40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with</a:t>
            </a:r>
            <a:r>
              <a:rPr sz="1200" spc="3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5376D"/>
                </a:solidFill>
                <a:latin typeface="Tahoma"/>
                <a:cs typeface="Tahoma"/>
              </a:rPr>
              <a:t>leading</a:t>
            </a:r>
            <a:endParaRPr sz="1200" dirty="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industry</a:t>
            </a:r>
            <a:r>
              <a:rPr sz="1200" spc="-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5376D"/>
                </a:solidFill>
                <a:latin typeface="Tahoma"/>
                <a:cs typeface="Tahoma"/>
              </a:rPr>
              <a:t>employers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3742" y="4402454"/>
            <a:ext cx="6587490" cy="76200"/>
          </a:xfrm>
          <a:custGeom>
            <a:avLst/>
            <a:gdLst/>
            <a:ahLst/>
            <a:cxnLst/>
            <a:rect l="l" t="t" r="r" b="b"/>
            <a:pathLst>
              <a:path w="658749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50800"/>
                </a:lnTo>
                <a:lnTo>
                  <a:pt x="63500" y="50800"/>
                </a:lnTo>
                <a:lnTo>
                  <a:pt x="63500" y="25400"/>
                </a:lnTo>
                <a:lnTo>
                  <a:pt x="76200" y="25400"/>
                </a:lnTo>
                <a:lnTo>
                  <a:pt x="76200" y="0"/>
                </a:lnTo>
                <a:close/>
              </a:path>
              <a:path w="6587490" h="76200">
                <a:moveTo>
                  <a:pt x="6510721" y="0"/>
                </a:moveTo>
                <a:lnTo>
                  <a:pt x="6510721" y="76200"/>
                </a:lnTo>
                <a:lnTo>
                  <a:pt x="6561521" y="50800"/>
                </a:lnTo>
                <a:lnTo>
                  <a:pt x="6523545" y="50800"/>
                </a:lnTo>
                <a:lnTo>
                  <a:pt x="6523545" y="25400"/>
                </a:lnTo>
                <a:lnTo>
                  <a:pt x="6561521" y="25400"/>
                </a:lnTo>
                <a:lnTo>
                  <a:pt x="6510721" y="0"/>
                </a:lnTo>
                <a:close/>
              </a:path>
              <a:path w="6587490" h="76200">
                <a:moveTo>
                  <a:pt x="76200" y="25400"/>
                </a:moveTo>
                <a:lnTo>
                  <a:pt x="63500" y="25400"/>
                </a:lnTo>
                <a:lnTo>
                  <a:pt x="63500" y="50800"/>
                </a:lnTo>
                <a:lnTo>
                  <a:pt x="76200" y="50800"/>
                </a:lnTo>
                <a:lnTo>
                  <a:pt x="76200" y="25400"/>
                </a:lnTo>
                <a:close/>
              </a:path>
              <a:path w="6587490" h="76200">
                <a:moveTo>
                  <a:pt x="6510721" y="25400"/>
                </a:moveTo>
                <a:lnTo>
                  <a:pt x="76200" y="25400"/>
                </a:lnTo>
                <a:lnTo>
                  <a:pt x="76200" y="50800"/>
                </a:lnTo>
                <a:lnTo>
                  <a:pt x="6510721" y="50800"/>
                </a:lnTo>
                <a:lnTo>
                  <a:pt x="6510721" y="25400"/>
                </a:lnTo>
                <a:close/>
              </a:path>
              <a:path w="6587490" h="76200">
                <a:moveTo>
                  <a:pt x="6561521" y="25400"/>
                </a:moveTo>
                <a:lnTo>
                  <a:pt x="6523545" y="25400"/>
                </a:lnTo>
                <a:lnTo>
                  <a:pt x="6523545" y="50800"/>
                </a:lnTo>
                <a:lnTo>
                  <a:pt x="6561521" y="50800"/>
                </a:lnTo>
                <a:lnTo>
                  <a:pt x="6586921" y="38100"/>
                </a:lnTo>
                <a:lnTo>
                  <a:pt x="6561521" y="25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/>
          <p:cNvSpPr txBox="1"/>
          <p:nvPr/>
        </p:nvSpPr>
        <p:spPr>
          <a:xfrm>
            <a:off x="5219446" y="3961892"/>
            <a:ext cx="1753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English</a:t>
            </a:r>
            <a:r>
              <a:rPr sz="1200" spc="-1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5376D"/>
                </a:solidFill>
                <a:latin typeface="Tahoma"/>
                <a:cs typeface="Tahoma"/>
              </a:rPr>
              <a:t>tor</a:t>
            </a:r>
            <a:r>
              <a:rPr sz="1200" spc="-40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5376D"/>
                </a:solidFill>
                <a:latin typeface="Tahoma"/>
                <a:cs typeface="Tahoma"/>
              </a:rPr>
              <a:t>VISA</a:t>
            </a:r>
            <a:r>
              <a:rPr sz="1200" spc="-5" dirty="0">
                <a:solidFill>
                  <a:srgbClr val="25376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5376D"/>
                </a:solidFill>
                <a:latin typeface="Tahoma"/>
                <a:cs typeface="Tahoma"/>
              </a:rPr>
              <a:t>purposes</a:t>
            </a:r>
            <a:endParaRPr sz="1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Words>347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Tahoma</vt:lpstr>
      <vt:lpstr>Times New Roman</vt:lpstr>
      <vt:lpstr>Office Theme</vt:lpstr>
      <vt:lpstr>Empowering Vietnamese Students with  Global Career Opportunities</vt:lpstr>
      <vt:lpstr>8A x TAFE/RTO – Background</vt:lpstr>
      <vt:lpstr>Aged Care Worker Qualifications</vt:lpstr>
      <vt:lpstr>The Student Journey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is one of the most country that focus on education</dc:title>
  <dc:creator>Viet Khai Nguyen</dc:creator>
  <cp:lastModifiedBy>Nam Nguyen</cp:lastModifiedBy>
  <cp:revision>3</cp:revision>
  <dcterms:created xsi:type="dcterms:W3CDTF">2025-01-20T05:45:27Z</dcterms:created>
  <dcterms:modified xsi:type="dcterms:W3CDTF">2025-01-20T08:02:32Z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2025-01-20T00:00:00Z</vt:filetime>
  </property>
  <property fmtid="{D5CDD505-2E9C-101B-9397-08002B2CF9AE}" pid="3" name="Creator">
    <vt:lpwstr>Microsoft® PowerPoint® LTSC</vt:lpwstr>
  </property>
  <property fmtid="{D5CDD505-2E9C-101B-9397-08002B2CF9AE}" pid="4" name="DocumentID">
    <vt:lpwstr>EB60-680C-BC98-0001</vt:lpwstr>
  </property>
  <property fmtid="{D5CDD505-2E9C-101B-9397-08002B2CF9AE}" pid="5" name="LastSaved">
    <vt:filetime>2025-01-20T00:00:00Z</vt:filetime>
  </property>
  <property fmtid="{D5CDD505-2E9C-101B-9397-08002B2CF9AE}" pid="6" name="Owner">
    <vt:lpwstr>nqt888@gmail.com</vt:lpwstr>
  </property>
  <property fmtid="{D5CDD505-2E9C-101B-9397-08002B2CF9AE}" pid="7" name="Producer">
    <vt:lpwstr>airSlate inc. Mellivora 3.1.3.2</vt:lpwstr>
  </property>
  <property fmtid="{D5CDD505-2E9C-101B-9397-08002B2CF9AE}" pid="8" name="reupload">
    <vt:lpwstr>v40stvGn9XgeVtRG/hxsgP9UrcnzaYUHMy/pVPb4AMZ7k5/CfWv2J+uXLsD8cR0LuluquiaIosaP0EvnmMZHnDOLYBBV90VWzIrxHVd7JjQaMdSMbh2PRB75rKh4hoATX/KlHVzA+YZ/qTOjQtsnLeU=</vt:lpwstr>
  </property>
</Properties>
</file>